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DM Sans" pitchFamily="2" charset="0"/>
      <p:regular r:id="rId11"/>
      <p:bold r:id="rId12"/>
      <p:italic r:id="rId13"/>
      <p:boldItalic r:id="rId14"/>
    </p:embeddedFont>
    <p:embeddedFont>
      <p:font typeface="Merriweather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00" y="1324475"/>
            <a:ext cx="116016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Quality-Aware JPEG Restoration Using a Cascaded Deep Network with Hybrid Spatial–Frequency Loss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990975"/>
            <a:ext cx="11049000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Arunkumaran 23MIA1171</a:t>
            </a:r>
            <a:br>
              <a:rPr lang="en-US" sz="18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 sz="18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GVN Kishore 23MIA1157</a:t>
            </a:r>
            <a:br>
              <a:rPr lang="en-US" sz="18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 sz="18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 Akshadh Athreya 23MIA1065</a:t>
            </a:r>
            <a:b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</a:b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33025" y="5497450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Faculty: Dr. Geetha S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76437"/>
            <a:ext cx="342900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976437"/>
            <a:ext cx="342900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976437"/>
            <a:ext cx="3429000" cy="37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95813" y="2986087"/>
            <a:ext cx="298037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Problem: JPEG Artifacts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398621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JPEG compression standard, while essential, introduces visual artifacts like blockiness, ringing, and noise that degrade image quality.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605813" y="2986087"/>
            <a:ext cx="298037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Challenge: "Blind" Restoration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76775" y="3986212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Most models need to know the exact compression level (QF) to work. Restoring an image *without* this knowledge is the "blind" problem.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15813" y="2986087"/>
            <a:ext cx="298037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Goal: A Balanced Model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86775" y="398621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Implement a model that balances high-fidelity restoration, blind applicability (works on any QF), and computational efficiency.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5975" y="22907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2907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7400" y="22907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Motivation &amp; Problem Statement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26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09625" y="195262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Paper: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"Efficient and Effective Blind JPEG Image Improvement..." (Ezumi and Ikehara, 2024)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09625" y="26098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Architecture: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novel cascaded design, not a single pass.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09625" y="300990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1. Quality Estimation (QE) Part: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controller that analyzes the input to create a quality representation.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09625" y="366712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2. Image Processing (IP) Parts: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series of U-Net-based (N=6) structures that progressively refine the image.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09625" y="4324350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Key Technique: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"Role Sharing" - a dynamic loss weighted across all IP parts, using fewer stages for high-QF images and more for low-QF.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3175" y="1971675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Base Paper Summary: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002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6574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575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147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719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1AF08A-D642-1D24-7E1B-BCCBCB2F4F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4155" y="1809136"/>
            <a:ext cx="5535561" cy="40705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/>
          <p:nvPr/>
        </p:nvSpPr>
        <p:spPr>
          <a:xfrm>
            <a:off x="571500" y="3838575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657987" y="4095750"/>
            <a:ext cx="23682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1. Input &amp; Conditioning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14375" y="4781550"/>
            <a:ext cx="225549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3-channel (RGB) image and its Quality Factor (QF) are combined into a 4-channel (R, G, B, Q) tensor.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3493907" y="2362200"/>
            <a:ext cx="236826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Network Input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3550294" y="2781300"/>
            <a:ext cx="2255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4D tensor is fed into the network, allowing it to adapt to the quality level.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329827" y="4095750"/>
            <a:ext cx="23682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3. Sequential Processing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386214" y="4781550"/>
            <a:ext cx="225549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tensor passes through the N=6 cascaded IP Parts, with each part progressively refining the image.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165747" y="2362200"/>
            <a:ext cx="236826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4. Final Output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222134" y="2781300"/>
            <a:ext cx="225549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final restored 3-channel (RGB) image is produced from the last IP Part.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1746870" y="37623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4582790" y="37623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7418709" y="37623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10254629" y="37623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 Flow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28750"/>
            <a:ext cx="1104900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1190625" y="4443412"/>
            <a:ext cx="98109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Overall Average PSNR: 32.5453 dB | Overall Average SSIM: 0.9132</a:t>
            </a:r>
            <a:r>
              <a:rPr lang="en-US" sz="135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Results are consistently high and stable across all three standard benchmarks, validating the model's effectiveness.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Quantitative Results: Average PSNR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95500"/>
            <a:ext cx="34290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095500"/>
            <a:ext cx="34290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095500"/>
            <a:ext cx="3429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5143500"/>
            <a:ext cx="342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Ground Truth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4381500" y="5143500"/>
            <a:ext cx="342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Compressed Input (QF 10)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191500" y="5143500"/>
            <a:ext cx="342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Our Restored Output</a:t>
            </a:r>
            <a:endParaRPr/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50" y="2114550"/>
            <a:ext cx="339090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title="caps.png"/>
          <p:cNvPicPr preferRelativeResize="0"/>
          <p:nvPr/>
        </p:nvPicPr>
        <p:blipFill rotWithShape="1">
          <a:blip r:embed="rId7">
            <a:alphaModFix/>
          </a:blip>
          <a:srcRect l="9910" r="9910"/>
          <a:stretch/>
        </p:blipFill>
        <p:spPr>
          <a:xfrm>
            <a:off x="4277033" y="2005781"/>
            <a:ext cx="3628102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title="caps (1).png"/>
          <p:cNvPicPr preferRelativeResize="0"/>
          <p:nvPr/>
        </p:nvPicPr>
        <p:blipFill rotWithShape="1">
          <a:blip r:embed="rId8">
            <a:alphaModFix/>
          </a:blip>
          <a:srcRect l="9910" r="9910"/>
          <a:stretch/>
        </p:blipFill>
        <p:spPr>
          <a:xfrm>
            <a:off x="8096865" y="2005781"/>
            <a:ext cx="3628102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Qualitative Results (LIVE1 Dataset: "</a:t>
            </a:r>
            <a:r>
              <a:rPr lang="en-US" sz="3000" b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caps.png</a:t>
            </a: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")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101310-EBD2-AC57-4E86-3DF3591A93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033" y="2005780"/>
            <a:ext cx="3618269" cy="304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11931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2238375" y="2071687"/>
            <a:ext cx="81438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Successfully Validated: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Confirmed the viability and effectiveness of the sequential processing approach for blind artifact removal.</a:t>
            </a:r>
            <a:endParaRPr/>
          </a:p>
        </p:txBody>
      </p:sp>
      <p:pic>
        <p:nvPicPr>
          <p:cNvPr id="173" name="Google Shape;17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83368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2238375" y="2786062"/>
            <a:ext cx="81438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High Performance: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Achieved an overall average PSNR of 32.5453 dB and SSIM of 0.9132 across all benchmarks using the pre-trained model.</a:t>
            </a:r>
            <a:endParaRPr/>
          </a:p>
        </p:txBody>
      </p:sp>
      <p:pic>
        <p:nvPicPr>
          <p:cNvPr id="175" name="Google Shape;17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54806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2238375" y="3500437"/>
            <a:ext cx="81438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Qualitative Success: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model effectively removes severe blocky artifacts and restores fine details, appearing significantly closer to the ground truth.</a:t>
            </a:r>
            <a:endParaRPr/>
          </a:p>
        </p:txBody>
      </p:sp>
      <p:pic>
        <p:nvPicPr>
          <p:cNvPr id="177" name="Google Shape;17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26243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2238375" y="4214812"/>
            <a:ext cx="81438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Training Instability: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notable observation during our *own* training attempt was that performance diverged after the initial epochs</a:t>
            </a:r>
            <a:r>
              <a:rPr lang="en-US" sz="13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pic>
        <p:nvPicPr>
          <p:cNvPr id="179" name="Google Shape;17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497681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2238375" y="4929187"/>
            <a:ext cx="81438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Future Work: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This instability should be investigated. Tuning the optimizer (Adam) or the cosine-decay learning rate schedule could enable a full, stable training run.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Findings &amp; Future Enhancements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295275" y="2414587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</Words>
  <Application>Microsoft Office PowerPoint</Application>
  <PresentationFormat>Widescreen</PresentationFormat>
  <Paragraphs>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Merriweather</vt:lpstr>
      <vt:lpstr>Calibri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Kishore Gvn</dc:creator>
  <cp:lastModifiedBy>Kishore Gvn</cp:lastModifiedBy>
  <cp:revision>4</cp:revision>
  <dcterms:modified xsi:type="dcterms:W3CDTF">2025-11-14T15:36:00Z</dcterms:modified>
</cp:coreProperties>
</file>